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el proyecto en una frase: una interfaz intuitiva que convierte información corporal o de un marcador en comandos seguros para Crazyflie dentro de Robotat.</a:t>
            </a:r>
          </a:p>
          <a:p>
            <a:endParaRPr/>
          </a:p>
          <a:p>
            <a:r>
              <a:t>[Sources]</a:t>
            </a:r>
          </a:p>
          <a:p>
            <a:r>
              <a:t>Protocolo de trabajo de graduación de Albert Vandercam Hart,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que el objetivo no es sustituir la seguridad del piloto, sino estudiar una interfaz más accesible y medible dentro de un entorno controlado.</a:t>
            </a:r>
          </a:p>
          <a:p>
            <a:endParaRPr/>
          </a:p>
          <a:p>
            <a:r>
              <a:t>[Sources]</a:t>
            </a:r>
          </a:p>
          <a:p>
            <a:r>
              <a:t>Protocolo, secciones Descripción del tema y Justificación.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Conectar cada barra con un objetivo del protocolo. Aclarar que los porcentajes son de avance técnico estimado, no una evaluación final del proyecto.</a:t>
            </a:r>
          </a:p>
          <a:p>
            <a:endParaRPr/>
          </a:p>
          <a:p>
            <a:r>
              <a:t>[Sources]</a:t>
            </a:r>
          </a:p>
          <a:p>
            <a:r>
              <a:t>Protocolo, Objetivo general y objetivos específicos. Estado técnico observado en el repositorio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la secuencia: se comparó EKF contra MoCap, se observó el error de altura, se descartó el cambio de marcos y se corrigió la integración de posición externa. La validación principal se logró en un dron; el doble dron es una etapa posterior.</a:t>
            </a:r>
          </a:p>
          <a:p>
            <a:endParaRPr/>
          </a:p>
          <a:p>
            <a:r>
              <a:t>[Sources]</a:t>
            </a:r>
          </a:p>
          <a:p>
            <a:r>
              <a:t>Logs de vuelo y scripts: drone_control/hover_highlevel_global.py y control_lowlevel_companero.py. Resultados de pruebas realizadas durante 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Indicar que la web no reemplaza las rutinas de laboratorio: las centraliza para la demostración, mientras los scripts individuales se mantienen disponibles.</a:t>
            </a:r>
          </a:p>
          <a:p>
            <a:endParaRPr/>
          </a:p>
          <a:p>
            <a:r>
              <a:t>[Sources]</a:t>
            </a:r>
          </a:p>
          <a:p>
            <a:r>
              <a:t>Captura de la aplicación web local desarrollada en web_app/; evidencia propia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primero el gesto como entrada y luego las dos gráficas. La línea de tiempo prueba que se detectaron comandos; la segunda relaciona el desplazamiento del marker con la respuesta del dron.</a:t>
            </a:r>
          </a:p>
          <a:p>
            <a:endParaRPr/>
          </a:p>
          <a:p>
            <a:r>
              <a:t>[Sources]</a:t>
            </a:r>
          </a:p>
          <a:p>
            <a:r>
              <a:t>Datos propios: drone_controll_with_marker/datos_marker/sesion_marker_20260805_132433.csv y análisis asociado.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es la primera prueba de operación simultánea. Los dos Crazyflies se controlaron desde una sola Crazyradio, pero con direcciones y tópicos MoCap distintos. La gráfica se muestra ampliada para comparar directamente el objetivo con la respuesta de cada dron. El Dron 1 alcanzó el objetivo con sobreimpulso y el Dron 2 se quedó por debajo; esto apunta a una diferencia de control, no a una falta de datos externos.</a:t>
            </a:r>
          </a:p>
          <a:p>
            <a:endParaRPr/>
          </a:p>
          <a:p>
            <a:r>
              <a:t>[Sources]</a:t>
            </a:r>
          </a:p>
          <a:p>
            <a:r>
              <a:t>Resultados experimentales propios: sesion_dos_drones_20260807_211947.csv; analisis_sesion_dos_drones_20260807_211947/01_altura_mocap_ekf_objetivo.png.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segunda evidencia descarta que la prueba haya fallado por falta de paquetes. Ambos drones recibieron MoCap alrededor de 53 Hz, con edad máxima de 62 milisegundos y una diferencia vertical EKF–MoCap menor de 2.5 cm. Por ello, el siguiente trabajo es trasladar al control dual la lógica continua y estable que ya se validó con un solo dron.</a:t>
            </a:r>
          </a:p>
          <a:p>
            <a:endParaRPr/>
          </a:p>
          <a:p>
            <a:r>
              <a:t>[Sources]</a:t>
            </a:r>
          </a:p>
          <a:p>
            <a:r>
              <a:t>Resultados experimentales propios: sesion_dos_drones_20260807_211947.csv; analisis_sesion_dos_drones_20260807_211947/04_calidad_mocap.png.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Cerrar con una conclusión y no con una lista de archivos. Reiterar que el siguiente hito es el controlador dual continuo, validado con las mismas gráficas y registros ya implementados.</a:t>
            </a:r>
          </a:p>
          <a:p>
            <a:endParaRPr/>
          </a:p>
          <a:p>
            <a:r>
              <a:t>[Sources]</a:t>
            </a:r>
          </a:p>
          <a:p>
            <a:r>
              <a:t>Síntesis de avances y próximos pasos del proyecto. Fuentes: protocolo y resultados experimentales propios.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C75F2A-7080-4ABC-A04F-FEBDB92AD1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B1CA8B4-7192-41A8-983F-93C5BC863119}"/>
              </a:ext>
            </a:extLst>
          </p:cNvPr>
          <p:cNvSpPr>
            <a:spLocks noGrp="1"/>
          </p:cNvSpPr>
          <p:nvPr/>
        </p:nvSpPr>
        <p:spPr>
          <a:xfrm>
            <a:off x="8398592" y="1929274"/>
            <a:ext cx="2571750" cy="2571750"/>
          </a:xfrm>
          <a:prstGeom prst="ellipse">
            <a:avLst/>
          </a:prstGeom>
          <a:solidFill>
            <a:srgbClr val="123D2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50CC818-1545-43B5-97ED-1B7559502CFC}"/>
              </a:ext>
            </a:extLst>
          </p:cNvPr>
          <p:cNvSpPr>
            <a:spLocks noGrp="1"/>
          </p:cNvSpPr>
          <p:nvPr/>
        </p:nvSpPr>
        <p:spPr>
          <a:xfrm>
            <a:off x="8970092" y="2500774"/>
            <a:ext cx="1428750" cy="1428750"/>
          </a:xfrm>
          <a:prstGeom prst="ellipse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BA9BC6-FF1F-439D-BE5C-2462A9311706}"/>
              </a:ext>
            </a:extLst>
          </p:cNvPr>
          <p:cNvSpPr>
            <a:spLocks noGrp="1"/>
          </p:cNvSpPr>
          <p:nvPr/>
        </p:nvSpPr>
        <p:spPr>
          <a:xfrm>
            <a:off x="742950" y="1786399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A6CE39"/>
                </a:solidFill>
              </a:defRPr>
            </a:pPr>
            <a:r>
              <a:rPr sz="1275" b="1" dirty="0">
                <a:solidFill>
                  <a:srgbClr val="A6CE39"/>
                </a:solidFill>
              </a:rPr>
              <a:t>UNIVERSIDAD DEL VALLE DE GUATEMALA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16A39B-5B7A-4C62-89CA-9693F795D773}"/>
              </a:ext>
            </a:extLst>
          </p:cNvPr>
          <p:cNvSpPr>
            <a:spLocks noGrp="1"/>
          </p:cNvSpPr>
          <p:nvPr/>
        </p:nvSpPr>
        <p:spPr>
          <a:xfrm>
            <a:off x="742950" y="2453149"/>
            <a:ext cx="68580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Control de drones basado en gestos</a:t>
            </a:r>
          </a:p>
          <a:p>
            <a:pPr algn="l">
              <a:buNone/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mediante captura de movimiento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821730-110F-4678-9B63-2432D825D2A3}"/>
              </a:ext>
            </a:extLst>
          </p:cNvPr>
          <p:cNvSpPr>
            <a:spLocks noGrp="1"/>
          </p:cNvSpPr>
          <p:nvPr/>
        </p:nvSpPr>
        <p:spPr>
          <a:xfrm>
            <a:off x="742950" y="4481974"/>
            <a:ext cx="5905500" cy="19050"/>
          </a:xfrm>
          <a:prstGeom prst="rect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483BB4-D03A-4184-9C53-5D0A1512EF7F}"/>
              </a:ext>
            </a:extLst>
          </p:cNvPr>
          <p:cNvSpPr>
            <a:spLocks noGrp="1"/>
          </p:cNvSpPr>
          <p:nvPr/>
        </p:nvSpPr>
        <p:spPr>
          <a:xfrm>
            <a:off x="742950" y="4586749"/>
            <a:ext cx="638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Albert Vandercam Hart  •  Ingeniería Mecatrónica  •  2026</a:t>
            </a:r>
          </a:p>
        </p:txBody>
      </p:sp>
    </p:spTree>
    <p:extLst>
      <p:ext uri="{BB962C8B-B14F-4D97-AF65-F5344CB8AC3E}">
        <p14:creationId xmlns:p14="http://schemas.microsoft.com/office/powerpoint/2010/main" val="2046030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6E6EC90-7C03-4509-AED6-8241FF3B3B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84FA3B-F889-4F50-9208-32E55DAB6DB8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2F8F3A"/>
                </a:solidFill>
              </a:defRPr>
            </a:pPr>
            <a:r>
              <a:rPr sz="975" b="1">
                <a:solidFill>
                  <a:srgbClr val="2F8F3A"/>
                </a:solidFill>
              </a:rPr>
              <a:t>CONTEXTO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52DF58-0AB4-4D79-B88C-93DB2C9F77FF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0B2B20"/>
                </a:solidFill>
              </a:defRPr>
            </a:pPr>
            <a:r>
              <a:rPr sz="2700" b="1">
                <a:solidFill>
                  <a:srgbClr val="0B2B20"/>
                </a:solidFill>
              </a:rPr>
              <a:t>El proyecto reduce la barrera de entrada al control de drones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EBE055-39CE-4281-901A-CF86EAADD930}"/>
              </a:ext>
            </a:extLst>
          </p:cNvPr>
          <p:cNvSpPr>
            <a:spLocks noGrp="1"/>
          </p:cNvSpPr>
          <p:nvPr/>
        </p:nvSpPr>
        <p:spPr>
          <a:xfrm>
            <a:off x="0" y="6543675"/>
            <a:ext cx="12192000" cy="314325"/>
          </a:xfrm>
          <a:prstGeom prst="rect">
            <a:avLst/>
          </a:prstGeom>
          <a:solidFill>
            <a:srgbClr val="0B2B2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BDA50C-0884-40B1-AA1D-DED59C6C9486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Universidad del Valle de Guatemala  •  Ingeniería Mecatrónica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63485C-7F57-49B3-9EFA-326AA67AD27F}"/>
              </a:ext>
            </a:extLst>
          </p:cNvPr>
          <p:cNvSpPr>
            <a:spLocks noGrp="1"/>
          </p:cNvSpPr>
          <p:nvPr/>
        </p:nvSpPr>
        <p:spPr>
          <a:xfrm>
            <a:off x="11049000" y="6591300"/>
            <a:ext cx="62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A6CE39"/>
                </a:solidFill>
              </a:defRPr>
            </a:pPr>
            <a:r>
              <a:rPr sz="900" b="1">
                <a:solidFill>
                  <a:srgbClr val="A6CE39"/>
                </a:solidFill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C3FAFE-D24E-4795-AFEB-B5E0454EF8DC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C64038"/>
                </a:solidFill>
              </a:defRPr>
            </a:pPr>
            <a:r>
              <a:rPr sz="1800" b="1">
                <a:solidFill>
                  <a:srgbClr val="C64038"/>
                </a:solidFill>
              </a:rPr>
              <a:t>Problema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EE4371-0984-43DA-B543-7690E2B5A0BD}"/>
              </a:ext>
            </a:extLst>
          </p:cNvPr>
          <p:cNvSpPr>
            <a:spLocks noGrp="1"/>
          </p:cNvSpPr>
          <p:nvPr/>
        </p:nvSpPr>
        <p:spPr>
          <a:xfrm>
            <a:off x="666750" y="1924050"/>
            <a:ext cx="4095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0">
                <a:solidFill>
                  <a:srgbClr val="17241F"/>
                </a:solidFill>
              </a:defRPr>
            </a:pPr>
            <a:r>
              <a:rPr sz="1875" b="0">
                <a:solidFill>
                  <a:srgbClr val="17241F"/>
                </a:solidFill>
              </a:rPr>
              <a:t>Pilotar con control remoto exige coordinación visual y motora, entrenamiento y atención continua.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54E252-1F4E-4920-BE97-6F0D9B6C06DE}"/>
              </a:ext>
            </a:extLst>
          </p:cNvPr>
          <p:cNvSpPr>
            <a:spLocks noGrp="1"/>
          </p:cNvSpPr>
          <p:nvPr/>
        </p:nvSpPr>
        <p:spPr>
          <a:xfrm>
            <a:off x="5810250" y="15049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2F8F3A"/>
                </a:solidFill>
              </a:defRPr>
            </a:pPr>
            <a:r>
              <a:rPr sz="1800" b="1">
                <a:solidFill>
                  <a:srgbClr val="2F8F3A"/>
                </a:solidFill>
              </a:rPr>
              <a:t>Propuesta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4DCABD-EBD9-481C-A910-EC79B5EE2EC4}"/>
              </a:ext>
            </a:extLst>
          </p:cNvPr>
          <p:cNvSpPr>
            <a:spLocks noGrp="1"/>
          </p:cNvSpPr>
          <p:nvPr/>
        </p:nvSpPr>
        <p:spPr>
          <a:xfrm>
            <a:off x="5810250" y="1924050"/>
            <a:ext cx="47148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0">
                <a:solidFill>
                  <a:srgbClr val="17241F"/>
                </a:solidFill>
              </a:defRPr>
            </a:pPr>
            <a:r>
              <a:rPr sz="1875" b="0">
                <a:solidFill>
                  <a:srgbClr val="17241F"/>
                </a:solidFill>
              </a:rPr>
              <a:t>Interpretar gestos corporales, cámara y un marker físico para generar movimientos de vuelo controlados.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54B877-FBB6-45E2-B8CB-C64572F7C69E}"/>
              </a:ext>
            </a:extLst>
          </p:cNvPr>
          <p:cNvSpPr>
            <a:spLocks noGrp="1"/>
          </p:cNvSpPr>
          <p:nvPr/>
        </p:nvSpPr>
        <p:spPr>
          <a:xfrm>
            <a:off x="914400" y="4000500"/>
            <a:ext cx="9525000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9E4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F87839-73EE-4DAE-B350-5C9B5C11F07E}"/>
              </a:ext>
            </a:extLst>
          </p:cNvPr>
          <p:cNvSpPr>
            <a:spLocks noGrp="1"/>
          </p:cNvSpPr>
          <p:nvPr/>
        </p:nvSpPr>
        <p:spPr>
          <a:xfrm>
            <a:off x="1257300" y="4276725"/>
            <a:ext cx="1428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B2B20"/>
                </a:solidFill>
              </a:defRPr>
            </a:pPr>
            <a:r>
              <a:rPr sz="1500" b="1">
                <a:solidFill>
                  <a:srgbClr val="0B2B20"/>
                </a:solidFill>
              </a:rPr>
              <a:t>Usuario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69D395-D849-4560-8DF4-6F182D0E16F1}"/>
              </a:ext>
            </a:extLst>
          </p:cNvPr>
          <p:cNvSpPr>
            <a:spLocks noGrp="1"/>
          </p:cNvSpPr>
          <p:nvPr/>
        </p:nvSpPr>
        <p:spPr>
          <a:xfrm>
            <a:off x="3771900" y="4276725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B2B20"/>
                </a:solidFill>
              </a:defRPr>
            </a:pPr>
            <a:r>
              <a:rPr sz="1500" b="1">
                <a:solidFill>
                  <a:srgbClr val="0B2B20"/>
                </a:solidFill>
              </a:rPr>
              <a:t>Percepción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1FB886-71F0-4BE8-82F2-A255C17B5312}"/>
              </a:ext>
            </a:extLst>
          </p:cNvPr>
          <p:cNvSpPr>
            <a:spLocks noGrp="1"/>
          </p:cNvSpPr>
          <p:nvPr/>
        </p:nvSpPr>
        <p:spPr>
          <a:xfrm>
            <a:off x="6477000" y="427672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B2B20"/>
                </a:solidFill>
              </a:defRPr>
            </a:pPr>
            <a:r>
              <a:rPr sz="1500" b="1">
                <a:solidFill>
                  <a:srgbClr val="0B2B20"/>
                </a:solidFill>
              </a:rPr>
              <a:t>Control seguro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95E7F6-1E59-4E7C-A438-D7EFDCDF1676}"/>
              </a:ext>
            </a:extLst>
          </p:cNvPr>
          <p:cNvSpPr>
            <a:spLocks noGrp="1"/>
          </p:cNvSpPr>
          <p:nvPr/>
        </p:nvSpPr>
        <p:spPr>
          <a:xfrm>
            <a:off x="9039225" y="4276725"/>
            <a:ext cx="1428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B2B20"/>
                </a:solidFill>
              </a:defRPr>
            </a:pPr>
            <a:r>
              <a:rPr sz="1500" b="1">
                <a:solidFill>
                  <a:srgbClr val="0B2B20"/>
                </a:solidFill>
              </a:rPr>
              <a:t>Crazyflie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CCFE85-D927-4E2C-BD10-D768C4B4470E}"/>
              </a:ext>
            </a:extLst>
          </p:cNvPr>
          <p:cNvSpPr>
            <a:spLocks noGrp="1"/>
          </p:cNvSpPr>
          <p:nvPr/>
        </p:nvSpPr>
        <p:spPr>
          <a:xfrm>
            <a:off x="1228725" y="4629150"/>
            <a:ext cx="1524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50645A"/>
                </a:solidFill>
              </a:defRPr>
            </a:pPr>
            <a:r>
              <a:rPr sz="1200" b="0">
                <a:solidFill>
                  <a:srgbClr val="50645A"/>
                </a:solidFill>
              </a:rPr>
              <a:t>Gestos / marker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6EBB90-D4C2-491A-97C1-66E15C02C1B8}"/>
              </a:ext>
            </a:extLst>
          </p:cNvPr>
          <p:cNvSpPr>
            <a:spLocks noGrp="1"/>
          </p:cNvSpPr>
          <p:nvPr/>
        </p:nvSpPr>
        <p:spPr>
          <a:xfrm>
            <a:off x="2905125" y="434340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75" b="1">
                <a:solidFill>
                  <a:srgbClr val="2F8F3A"/>
                </a:solidFill>
              </a:defRPr>
            </a:pPr>
            <a:r>
              <a:rPr sz="2175" b="1">
                <a:solidFill>
                  <a:srgbClr val="2F8F3A"/>
                </a:solidFill>
              </a:rPr>
              <a:t>→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8F958A-E236-4B20-B15C-EF597EDC81E4}"/>
              </a:ext>
            </a:extLst>
          </p:cNvPr>
          <p:cNvSpPr>
            <a:spLocks noGrp="1"/>
          </p:cNvSpPr>
          <p:nvPr/>
        </p:nvSpPr>
        <p:spPr>
          <a:xfrm>
            <a:off x="3714750" y="4629150"/>
            <a:ext cx="1809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50645A"/>
                </a:solidFill>
              </a:defRPr>
            </a:pPr>
            <a:r>
              <a:rPr sz="1200" b="0">
                <a:solidFill>
                  <a:srgbClr val="50645A"/>
                </a:solidFill>
              </a:rPr>
              <a:t>Cámara + ROBOTAT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45E018-2428-4859-80BB-8B48906FF49C}"/>
              </a:ext>
            </a:extLst>
          </p:cNvPr>
          <p:cNvSpPr>
            <a:spLocks noGrp="1"/>
          </p:cNvSpPr>
          <p:nvPr/>
        </p:nvSpPr>
        <p:spPr>
          <a:xfrm>
            <a:off x="5638800" y="434340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75" b="1">
                <a:solidFill>
                  <a:srgbClr val="2F8F3A"/>
                </a:solidFill>
              </a:defRPr>
            </a:pPr>
            <a:r>
              <a:rPr sz="2175" b="1">
                <a:solidFill>
                  <a:srgbClr val="2F8F3A"/>
                </a:solidFill>
              </a:rPr>
              <a:t>→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092309-3DD8-4A55-85E0-954ADEC4EFF4}"/>
              </a:ext>
            </a:extLst>
          </p:cNvPr>
          <p:cNvSpPr>
            <a:spLocks noGrp="1"/>
          </p:cNvSpPr>
          <p:nvPr/>
        </p:nvSpPr>
        <p:spPr>
          <a:xfrm>
            <a:off x="6419850" y="4629150"/>
            <a:ext cx="2000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50645A"/>
                </a:solidFill>
              </a:defRPr>
            </a:pPr>
            <a:r>
              <a:rPr sz="1200" b="0">
                <a:solidFill>
                  <a:srgbClr val="50645A"/>
                </a:solidFill>
              </a:rPr>
              <a:t>EKF + límites + paro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7740BE-ACE8-42DD-B2AB-5A9397F718AA}"/>
              </a:ext>
            </a:extLst>
          </p:cNvPr>
          <p:cNvSpPr>
            <a:spLocks noGrp="1"/>
          </p:cNvSpPr>
          <p:nvPr/>
        </p:nvSpPr>
        <p:spPr>
          <a:xfrm>
            <a:off x="8458200" y="434340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75" b="1">
                <a:solidFill>
                  <a:srgbClr val="2F8F3A"/>
                </a:solidFill>
              </a:defRPr>
            </a:pPr>
            <a:r>
              <a:rPr sz="2175" b="1">
                <a:solidFill>
                  <a:srgbClr val="2F8F3A"/>
                </a:solidFill>
              </a:rPr>
              <a:t>→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664E22-8596-42CF-99A1-C2DD185B6495}"/>
              </a:ext>
            </a:extLst>
          </p:cNvPr>
          <p:cNvSpPr>
            <a:spLocks noGrp="1"/>
          </p:cNvSpPr>
          <p:nvPr/>
        </p:nvSpPr>
        <p:spPr>
          <a:xfrm>
            <a:off x="9001125" y="4629150"/>
            <a:ext cx="1524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50645A"/>
                </a:solidFill>
              </a:defRPr>
            </a:pPr>
            <a:r>
              <a:rPr sz="1200" b="0">
                <a:solidFill>
                  <a:srgbClr val="50645A"/>
                </a:solidFill>
              </a:rPr>
              <a:t>Respuesta de vuelo</a:t>
            </a:r>
          </a:p>
        </p:txBody>
      </p:sp>
    </p:spTree>
    <p:extLst>
      <p:ext uri="{BB962C8B-B14F-4D97-AF65-F5344CB8AC3E}">
        <p14:creationId xmlns:p14="http://schemas.microsoft.com/office/powerpoint/2010/main" val="255328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A1B189E-CD9D-4153-ABF0-D872723BC0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9AA62B-21E6-477A-AD71-FD892E83D820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2F8F3A"/>
                </a:solidFill>
              </a:defRPr>
            </a:pPr>
            <a:r>
              <a:rPr sz="975" b="1">
                <a:solidFill>
                  <a:srgbClr val="2F8F3A"/>
                </a:solidFill>
              </a:rPr>
              <a:t>OBJETIVOS Y AVANCE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58E118-563A-410C-BD24-DC55727FD50F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0B2B20"/>
                </a:solidFill>
              </a:defRPr>
            </a:pPr>
            <a:r>
              <a:rPr sz="2700" b="1">
                <a:solidFill>
                  <a:srgbClr val="0B2B20"/>
                </a:solidFill>
              </a:rPr>
              <a:t>Los tres objetivos ya cuentan con evidencia técnica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B92C10-AC47-40A0-8A7A-58A1A2CF350E}"/>
              </a:ext>
            </a:extLst>
          </p:cNvPr>
          <p:cNvSpPr>
            <a:spLocks noGrp="1"/>
          </p:cNvSpPr>
          <p:nvPr/>
        </p:nvSpPr>
        <p:spPr>
          <a:xfrm>
            <a:off x="0" y="6543675"/>
            <a:ext cx="12192000" cy="314325"/>
          </a:xfrm>
          <a:prstGeom prst="rect">
            <a:avLst/>
          </a:prstGeom>
          <a:solidFill>
            <a:srgbClr val="0B2B2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BF8524-7EBC-450A-9261-6A69EB39E16C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Universidad del Valle de Guatemala  •  Ingeniería Mecatrónica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629E87-4342-4209-B189-0E1887C17904}"/>
              </a:ext>
            </a:extLst>
          </p:cNvPr>
          <p:cNvSpPr>
            <a:spLocks noGrp="1"/>
          </p:cNvSpPr>
          <p:nvPr/>
        </p:nvSpPr>
        <p:spPr>
          <a:xfrm>
            <a:off x="11049000" y="6591300"/>
            <a:ext cx="62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A6CE39"/>
                </a:solidFill>
              </a:defRPr>
            </a:pPr>
            <a:r>
              <a:rPr sz="900" b="1">
                <a:solidFill>
                  <a:srgbClr val="A6CE39"/>
                </a:solidFill>
              </a:rPr>
              <a:t>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1DA12-B7A7-4B17-A7F0-78C68CFEAF6C}"/>
              </a:ext>
            </a:extLst>
          </p:cNvPr>
          <p:cNvSpPr>
            <a:spLocks noGrp="1"/>
          </p:cNvSpPr>
          <p:nvPr/>
        </p:nvSpPr>
        <p:spPr>
          <a:xfrm>
            <a:off x="533400" y="13716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50645A"/>
                </a:solidFill>
              </a:defRPr>
            </a:pPr>
            <a:r>
              <a:rPr sz="1650" b="0">
                <a:solidFill>
                  <a:srgbClr val="50645A"/>
                </a:solidFill>
              </a:rPr>
              <a:t>Avance técnico estimado al cierre de esta etapa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F51DA4-A5EC-4A8F-B1B1-FCD707897BB7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619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7241F"/>
                </a:solidFill>
              </a:defRPr>
            </a:pPr>
            <a:r>
              <a:rPr sz="1575" b="1">
                <a:solidFill>
                  <a:srgbClr val="17241F"/>
                </a:solidFill>
              </a:rPr>
              <a:t>1. Validar el control punto a punto con ROBOTAT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735736-67E3-43E0-82BD-455C4AD51005}"/>
              </a:ext>
            </a:extLst>
          </p:cNvPr>
          <p:cNvSpPr>
            <a:spLocks noGrp="1"/>
          </p:cNvSpPr>
          <p:nvPr/>
        </p:nvSpPr>
        <p:spPr>
          <a:xfrm>
            <a:off x="914400" y="23145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50645A"/>
                </a:solidFill>
              </a:defRPr>
            </a:pPr>
            <a:r>
              <a:rPr sz="1200" b="0">
                <a:solidFill>
                  <a:srgbClr val="50645A"/>
                </a:solidFill>
              </a:rPr>
              <a:t>Hover global y comparación EKF–MoCap implementados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15F4934-463C-4386-9F0D-1FE46D4476F8}"/>
              </a:ext>
            </a:extLst>
          </p:cNvPr>
          <p:cNvSpPr>
            <a:spLocks noGrp="1"/>
          </p:cNvSpPr>
          <p:nvPr/>
        </p:nvSpPr>
        <p:spPr>
          <a:xfrm>
            <a:off x="7334250" y="2133600"/>
            <a:ext cx="3048000" cy="171450"/>
          </a:xfrm>
          <a:prstGeom prst="roundRect">
            <a:avLst>
              <a:gd name="adj" fmla="val 50000"/>
            </a:avLst>
          </a:prstGeom>
          <a:solidFill>
            <a:srgbClr val="E2EAE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F0C4D4-1EF4-4AB4-9C07-CEDDD7C3DD60}"/>
              </a:ext>
            </a:extLst>
          </p:cNvPr>
          <p:cNvSpPr>
            <a:spLocks noGrp="1"/>
          </p:cNvSpPr>
          <p:nvPr/>
        </p:nvSpPr>
        <p:spPr>
          <a:xfrm>
            <a:off x="7334250" y="2133600"/>
            <a:ext cx="2590800" cy="171450"/>
          </a:xfrm>
          <a:prstGeom prst="roundRect">
            <a:avLst>
              <a:gd name="adj" fmla="val 50000"/>
            </a:avLst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82B296-CF32-44BF-A0AF-F6EF031A314D}"/>
              </a:ext>
            </a:extLst>
          </p:cNvPr>
          <p:cNvSpPr>
            <a:spLocks noGrp="1"/>
          </p:cNvSpPr>
          <p:nvPr/>
        </p:nvSpPr>
        <p:spPr>
          <a:xfrm>
            <a:off x="10610850" y="203835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650" b="1">
                <a:solidFill>
                  <a:srgbClr val="0B2B20"/>
                </a:solidFill>
              </a:defRPr>
            </a:pPr>
            <a:r>
              <a:rPr sz="1650" b="1">
                <a:solidFill>
                  <a:srgbClr val="0B2B20"/>
                </a:solidFill>
              </a:rPr>
              <a:t>85%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A6428E-BEE7-4EF5-B543-CC03E5F13DF8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619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7241F"/>
                </a:solidFill>
              </a:defRPr>
            </a:pPr>
            <a:r>
              <a:rPr sz="1575" b="1">
                <a:solidFill>
                  <a:srgbClr val="17241F"/>
                </a:solidFill>
              </a:rPr>
              <a:t>2. Obtener y procesar información para detectar gestos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69CFE9-6575-4370-BA5B-1CEA6DA25DA3}"/>
              </a:ext>
            </a:extLst>
          </p:cNvPr>
          <p:cNvSpPr>
            <a:spLocks noGrp="1"/>
          </p:cNvSpPr>
          <p:nvPr/>
        </p:nvSpPr>
        <p:spPr>
          <a:xfrm>
            <a:off x="914400" y="34575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50645A"/>
                </a:solidFill>
              </a:defRPr>
            </a:pPr>
            <a:r>
              <a:rPr sz="1200" b="0">
                <a:solidFill>
                  <a:srgbClr val="50645A"/>
                </a:solidFill>
              </a:rPr>
              <a:t>MQTT, cámara, marker ID 64 y registro CSV operativos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4B147DF-1D53-4722-B857-C3EAAD0B2496}"/>
              </a:ext>
            </a:extLst>
          </p:cNvPr>
          <p:cNvSpPr>
            <a:spLocks noGrp="1"/>
          </p:cNvSpPr>
          <p:nvPr/>
        </p:nvSpPr>
        <p:spPr>
          <a:xfrm>
            <a:off x="7334250" y="3276600"/>
            <a:ext cx="3048000" cy="171450"/>
          </a:xfrm>
          <a:prstGeom prst="roundRect">
            <a:avLst>
              <a:gd name="adj" fmla="val 50000"/>
            </a:avLst>
          </a:prstGeom>
          <a:solidFill>
            <a:srgbClr val="E2EAE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89AC7D3-F4EB-4D32-9E1C-2AB1FFD26D86}"/>
              </a:ext>
            </a:extLst>
          </p:cNvPr>
          <p:cNvSpPr>
            <a:spLocks noGrp="1"/>
          </p:cNvSpPr>
          <p:nvPr/>
        </p:nvSpPr>
        <p:spPr>
          <a:xfrm>
            <a:off x="7334250" y="3276600"/>
            <a:ext cx="3048000" cy="171450"/>
          </a:xfrm>
          <a:prstGeom prst="roundRect">
            <a:avLst>
              <a:gd name="adj" fmla="val 50000"/>
            </a:avLst>
          </a:prstGeom>
          <a:solidFill>
            <a:srgbClr val="2F8F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0E9EB6-B225-47B0-A401-9D5DEFE7A794}"/>
              </a:ext>
            </a:extLst>
          </p:cNvPr>
          <p:cNvSpPr>
            <a:spLocks noGrp="1"/>
          </p:cNvSpPr>
          <p:nvPr/>
        </p:nvSpPr>
        <p:spPr>
          <a:xfrm>
            <a:off x="10610850" y="318135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650" b="1">
                <a:solidFill>
                  <a:srgbClr val="0B2B20"/>
                </a:solidFill>
              </a:defRPr>
            </a:pPr>
            <a:r>
              <a:rPr sz="1650" b="1">
                <a:solidFill>
                  <a:srgbClr val="0B2B20"/>
                </a:solidFill>
              </a:rPr>
              <a:t>100%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BE24F9-A9FC-4FA9-81D1-8667DABE2E00}"/>
              </a:ext>
            </a:extLst>
          </p:cNvPr>
          <p:cNvSpPr>
            <a:spLocks noGrp="1"/>
          </p:cNvSpPr>
          <p:nvPr/>
        </p:nvSpPr>
        <p:spPr>
          <a:xfrm>
            <a:off x="914400" y="4286250"/>
            <a:ext cx="619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7241F"/>
                </a:solidFill>
              </a:defRPr>
            </a:pPr>
            <a:r>
              <a:rPr sz="1575" b="1">
                <a:solidFill>
                  <a:srgbClr val="17241F"/>
                </a:solidFill>
              </a:rPr>
              <a:t>3. Implementar un control intuitivo para entornos educativos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DA8B7E-7FA1-4657-A8D4-1FADB0F8AF4A}"/>
              </a:ext>
            </a:extLst>
          </p:cNvPr>
          <p:cNvSpPr>
            <a:spLocks noGrp="1"/>
          </p:cNvSpPr>
          <p:nvPr/>
        </p:nvSpPr>
        <p:spPr>
          <a:xfrm>
            <a:off x="914400" y="46005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50645A"/>
                </a:solidFill>
              </a:defRPr>
            </a:pPr>
            <a:r>
              <a:rPr sz="1200" b="0">
                <a:solidFill>
                  <a:srgbClr val="50645A"/>
                </a:solidFill>
              </a:rPr>
              <a:t>Gestos, botones, plataforma web y joystick con marker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C01E48D-260D-4955-965D-F83608F75AFE}"/>
              </a:ext>
            </a:extLst>
          </p:cNvPr>
          <p:cNvSpPr>
            <a:spLocks noGrp="1"/>
          </p:cNvSpPr>
          <p:nvPr/>
        </p:nvSpPr>
        <p:spPr>
          <a:xfrm>
            <a:off x="7334250" y="4419600"/>
            <a:ext cx="3048000" cy="171450"/>
          </a:xfrm>
          <a:prstGeom prst="roundRect">
            <a:avLst>
              <a:gd name="adj" fmla="val 50000"/>
            </a:avLst>
          </a:prstGeom>
          <a:solidFill>
            <a:srgbClr val="E2EAE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D03DAE1-A473-45FA-AB76-A7A02929B631}"/>
              </a:ext>
            </a:extLst>
          </p:cNvPr>
          <p:cNvSpPr>
            <a:spLocks noGrp="1"/>
          </p:cNvSpPr>
          <p:nvPr/>
        </p:nvSpPr>
        <p:spPr>
          <a:xfrm>
            <a:off x="7334250" y="4419600"/>
            <a:ext cx="2438400" cy="171450"/>
          </a:xfrm>
          <a:prstGeom prst="roundRect">
            <a:avLst>
              <a:gd name="adj" fmla="val 50000"/>
            </a:avLst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78BDFD-D8EA-4294-9AC6-A3EA9541E76C}"/>
              </a:ext>
            </a:extLst>
          </p:cNvPr>
          <p:cNvSpPr>
            <a:spLocks noGrp="1"/>
          </p:cNvSpPr>
          <p:nvPr/>
        </p:nvSpPr>
        <p:spPr>
          <a:xfrm>
            <a:off x="10610850" y="432435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650" b="1">
                <a:solidFill>
                  <a:srgbClr val="0B2B20"/>
                </a:solidFill>
              </a:defRPr>
            </a:pPr>
            <a:r>
              <a:rPr sz="1650" b="1">
                <a:solidFill>
                  <a:srgbClr val="0B2B20"/>
                </a:solidFill>
              </a:rPr>
              <a:t>80%</a:t>
            </a:r>
          </a:p>
        </p:txBody>
      </p:sp>
    </p:spTree>
    <p:extLst>
      <p:ext uri="{BB962C8B-B14F-4D97-AF65-F5344CB8AC3E}">
        <p14:creationId xmlns:p14="http://schemas.microsoft.com/office/powerpoint/2010/main" val="1330715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5318E43-25EF-47F4-8400-E39FB6E382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50E14B-938C-4D05-9F39-B41EAF228E70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2F8F3A"/>
                </a:solidFill>
              </a:defRPr>
            </a:pPr>
            <a:r>
              <a:rPr sz="975" b="1">
                <a:solidFill>
                  <a:srgbClr val="2F8F3A"/>
                </a:solidFill>
              </a:rPr>
              <a:t>PROBLEMA TÉCNICO RESUELTO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45E1F4-3E1F-4B42-9A2E-A629E69032B8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0B2B20"/>
                </a:solidFill>
              </a:defRPr>
            </a:pPr>
            <a:r>
              <a:rPr sz="2700" b="1">
                <a:solidFill>
                  <a:srgbClr val="0B2B20"/>
                </a:solidFill>
              </a:rPr>
              <a:t>La estabilidad se resolvió al alinear estimación, MoCap y objetivo global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81BBD2-17CF-4605-BAFF-0DD058AB4EC2}"/>
              </a:ext>
            </a:extLst>
          </p:cNvPr>
          <p:cNvSpPr>
            <a:spLocks noGrp="1"/>
          </p:cNvSpPr>
          <p:nvPr/>
        </p:nvSpPr>
        <p:spPr>
          <a:xfrm>
            <a:off x="0" y="6543675"/>
            <a:ext cx="12192000" cy="314325"/>
          </a:xfrm>
          <a:prstGeom prst="rect">
            <a:avLst/>
          </a:prstGeom>
          <a:solidFill>
            <a:srgbClr val="0B2B2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9E2ED2-AF25-4573-A589-944160ED7CAE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Universidad del Valle de Guatemala  •  Ingeniería Mecatrónica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9E4841-AB8E-4F6F-80AA-82F302BEBD8B}"/>
              </a:ext>
            </a:extLst>
          </p:cNvPr>
          <p:cNvSpPr>
            <a:spLocks noGrp="1"/>
          </p:cNvSpPr>
          <p:nvPr/>
        </p:nvSpPr>
        <p:spPr>
          <a:xfrm>
            <a:off x="11049000" y="6591300"/>
            <a:ext cx="62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A6CE39"/>
                </a:solidFill>
              </a:defRPr>
            </a:pPr>
            <a:r>
              <a:rPr sz="900" b="1">
                <a:solidFill>
                  <a:srgbClr val="A6CE39"/>
                </a:solidFill>
              </a:rPr>
              <a:t>04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389FB7-BF47-4429-99AB-580F9116D692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3048000" cy="314325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E4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5495C44-1393-49F0-863F-5F3958475C2F}"/>
              </a:ext>
            </a:extLst>
          </p:cNvPr>
          <p:cNvSpPr>
            <a:spLocks noGrp="1"/>
          </p:cNvSpPr>
          <p:nvPr/>
        </p:nvSpPr>
        <p:spPr>
          <a:xfrm>
            <a:off x="923925" y="2019300"/>
            <a:ext cx="400050" cy="400050"/>
          </a:xfrm>
          <a:prstGeom prst="ellipse">
            <a:avLst/>
          </a:prstGeom>
          <a:solidFill>
            <a:srgbClr val="C6403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9B4310-2371-44CE-B4D7-D66BFA68F592}"/>
              </a:ext>
            </a:extLst>
          </p:cNvPr>
          <p:cNvSpPr>
            <a:spLocks noGrp="1"/>
          </p:cNvSpPr>
          <p:nvPr/>
        </p:nvSpPr>
        <p:spPr>
          <a:xfrm>
            <a:off x="923925" y="20955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90303E-AC4F-4C5D-B5B7-D32F5EA9DF2A}"/>
              </a:ext>
            </a:extLst>
          </p:cNvPr>
          <p:cNvSpPr>
            <a:spLocks noGrp="1"/>
          </p:cNvSpPr>
          <p:nvPr/>
        </p:nvSpPr>
        <p:spPr>
          <a:xfrm>
            <a:off x="933450" y="2667000"/>
            <a:ext cx="2552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0B2B20"/>
                </a:solidFill>
              </a:defRPr>
            </a:pPr>
            <a:r>
              <a:rPr sz="1800" b="1">
                <a:solidFill>
                  <a:srgbClr val="0B2B20"/>
                </a:solidFill>
              </a:rPr>
              <a:t>Causa identificada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DCE9A4-A884-4D8C-B86F-08307D690341}"/>
              </a:ext>
            </a:extLst>
          </p:cNvPr>
          <p:cNvSpPr>
            <a:spLocks noGrp="1"/>
          </p:cNvSpPr>
          <p:nvPr/>
        </p:nvSpPr>
        <p:spPr>
          <a:xfrm>
            <a:off x="933450" y="3209925"/>
            <a:ext cx="2505075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17241F"/>
                </a:solidFill>
              </a:defRPr>
            </a:pPr>
            <a:r>
              <a:rPr sz="1425" b="0">
                <a:solidFill>
                  <a:srgbClr val="17241F"/>
                </a:solidFill>
              </a:rPr>
              <a:t>La altura estimada no seguía al vuelo real cuando la posición externa se trataba de forma inconsistente.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1A6C9C8-6EA2-4680-A817-55526062F4CC}"/>
              </a:ext>
            </a:extLst>
          </p:cNvPr>
          <p:cNvSpPr>
            <a:spLocks noGrp="1"/>
          </p:cNvSpPr>
          <p:nvPr/>
        </p:nvSpPr>
        <p:spPr>
          <a:xfrm>
            <a:off x="4286250" y="1752600"/>
            <a:ext cx="3048000" cy="314325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E4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FF38E0D-CE99-441C-AA80-CFA18B53C49D}"/>
              </a:ext>
            </a:extLst>
          </p:cNvPr>
          <p:cNvSpPr>
            <a:spLocks noGrp="1"/>
          </p:cNvSpPr>
          <p:nvPr/>
        </p:nvSpPr>
        <p:spPr>
          <a:xfrm>
            <a:off x="4524375" y="2019300"/>
            <a:ext cx="400050" cy="400050"/>
          </a:xfrm>
          <a:prstGeom prst="ellipse">
            <a:avLst/>
          </a:prstGeom>
          <a:solidFill>
            <a:srgbClr val="D7832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046D84-7F4A-402A-B0AC-750119D0F05E}"/>
              </a:ext>
            </a:extLst>
          </p:cNvPr>
          <p:cNvSpPr>
            <a:spLocks noGrp="1"/>
          </p:cNvSpPr>
          <p:nvPr/>
        </p:nvSpPr>
        <p:spPr>
          <a:xfrm>
            <a:off x="4524375" y="20955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B90AB9-3933-4032-99F9-902E06AE9E29}"/>
              </a:ext>
            </a:extLst>
          </p:cNvPr>
          <p:cNvSpPr>
            <a:spLocks noGrp="1"/>
          </p:cNvSpPr>
          <p:nvPr/>
        </p:nvSpPr>
        <p:spPr>
          <a:xfrm>
            <a:off x="4533900" y="2667000"/>
            <a:ext cx="2552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0B2B20"/>
                </a:solidFill>
              </a:defRPr>
            </a:pPr>
            <a:r>
              <a:rPr sz="1800" b="1">
                <a:solidFill>
                  <a:srgbClr val="0B2B20"/>
                </a:solidFill>
              </a:rPr>
              <a:t>Corrección aplicada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EDD2DB-00D1-4652-A7CA-85A63D064CAE}"/>
              </a:ext>
            </a:extLst>
          </p:cNvPr>
          <p:cNvSpPr>
            <a:spLocks noGrp="1"/>
          </p:cNvSpPr>
          <p:nvPr/>
        </p:nvSpPr>
        <p:spPr>
          <a:xfrm>
            <a:off x="4533900" y="3209925"/>
            <a:ext cx="2505075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17241F"/>
                </a:solidFill>
              </a:defRPr>
            </a:pPr>
            <a:r>
              <a:rPr sz="1425" b="0">
                <a:solidFill>
                  <a:srgbClr val="17241F"/>
                </a:solidFill>
              </a:rPr>
              <a:t>Se normalizó el uso de metros, se reinició el Kalman con MoCap fresco y se controló sobre un objetivo global.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56C0BD8-835B-4452-8129-487D2304804F}"/>
              </a:ext>
            </a:extLst>
          </p:cNvPr>
          <p:cNvSpPr>
            <a:spLocks noGrp="1"/>
          </p:cNvSpPr>
          <p:nvPr/>
        </p:nvSpPr>
        <p:spPr>
          <a:xfrm>
            <a:off x="7886700" y="1752600"/>
            <a:ext cx="3048000" cy="314325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E4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B4A2D37-CC97-45C4-A5F4-F657F7A80357}"/>
              </a:ext>
            </a:extLst>
          </p:cNvPr>
          <p:cNvSpPr>
            <a:spLocks noGrp="1"/>
          </p:cNvSpPr>
          <p:nvPr/>
        </p:nvSpPr>
        <p:spPr>
          <a:xfrm>
            <a:off x="8124825" y="2019300"/>
            <a:ext cx="400050" cy="400050"/>
          </a:xfrm>
          <a:prstGeom prst="ellipse">
            <a:avLst/>
          </a:prstGeom>
          <a:solidFill>
            <a:srgbClr val="2F8F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688380-97EC-4DD8-9EC6-D8B11E97B681}"/>
              </a:ext>
            </a:extLst>
          </p:cNvPr>
          <p:cNvSpPr>
            <a:spLocks noGrp="1"/>
          </p:cNvSpPr>
          <p:nvPr/>
        </p:nvSpPr>
        <p:spPr>
          <a:xfrm>
            <a:off x="8124825" y="20955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DD2719-2354-42D5-B345-B1E765B48755}"/>
              </a:ext>
            </a:extLst>
          </p:cNvPr>
          <p:cNvSpPr>
            <a:spLocks noGrp="1"/>
          </p:cNvSpPr>
          <p:nvPr/>
        </p:nvSpPr>
        <p:spPr>
          <a:xfrm>
            <a:off x="8134350" y="2667000"/>
            <a:ext cx="2552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0B2B20"/>
                </a:solidFill>
              </a:defRPr>
            </a:pPr>
            <a:r>
              <a:rPr sz="1800" b="1">
                <a:solidFill>
                  <a:srgbClr val="0B2B20"/>
                </a:solidFill>
              </a:rPr>
              <a:t>Resultado verificable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C70266-4D26-475F-A5BC-19C5AEE2B80D}"/>
              </a:ext>
            </a:extLst>
          </p:cNvPr>
          <p:cNvSpPr>
            <a:spLocks noGrp="1"/>
          </p:cNvSpPr>
          <p:nvPr/>
        </p:nvSpPr>
        <p:spPr>
          <a:xfrm>
            <a:off x="8134350" y="3209925"/>
            <a:ext cx="2505075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17241F"/>
                </a:solidFill>
              </a:defRPr>
            </a:pPr>
            <a:r>
              <a:rPr sz="1425" b="0">
                <a:solidFill>
                  <a:srgbClr val="17241F"/>
                </a:solidFill>
              </a:rPr>
              <a:t>En pruebas de un dron, EKF y MoCap permanecieron alineados y el hover alcanzó la altura objetivo.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5D7DC7-C92A-4FC0-A7F9-619225A72699}"/>
              </a:ext>
            </a:extLst>
          </p:cNvPr>
          <p:cNvSpPr>
            <a:spLocks noGrp="1"/>
          </p:cNvSpPr>
          <p:nvPr/>
        </p:nvSpPr>
        <p:spPr>
          <a:xfrm>
            <a:off x="1428750" y="5476875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B2B20"/>
                </a:solidFill>
              </a:defRPr>
            </a:pPr>
            <a:r>
              <a:rPr sz="1575" b="1">
                <a:solidFill>
                  <a:srgbClr val="0B2B20"/>
                </a:solidFill>
              </a:rPr>
              <a:t>Criterio de seguridad: no despegar sin MoCap fresco ni sin convergencia del estimador.</a:t>
            </a:r>
          </a:p>
        </p:txBody>
      </p:sp>
    </p:spTree>
    <p:extLst>
      <p:ext uri="{BB962C8B-B14F-4D97-AF65-F5344CB8AC3E}">
        <p14:creationId xmlns:p14="http://schemas.microsoft.com/office/powerpoint/2010/main" val="654848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96F0C9D-BFD0-4F94-A9AB-7B7FD505A3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413A57-962B-41F7-91D1-1BBA0BB78BB2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2F8F3A"/>
                </a:solidFill>
              </a:defRPr>
            </a:pPr>
            <a:r>
              <a:rPr sz="975" b="1">
                <a:solidFill>
                  <a:srgbClr val="2F8F3A"/>
                </a:solidFill>
              </a:rPr>
              <a:t>INTERFAZ DESARROLLADA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6DA5D7-9A87-4B1F-A901-0A65EDB51F0B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0B2B20"/>
                </a:solidFill>
              </a:defRPr>
            </a:pPr>
            <a:r>
              <a:rPr sz="2700" b="1">
                <a:solidFill>
                  <a:srgbClr val="0B2B20"/>
                </a:solidFill>
              </a:rPr>
              <a:t>La plataforma web reúne control manual, cámara y seguridad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E8E687-9F82-4CB8-BDAB-C1EE57E5158C}"/>
              </a:ext>
            </a:extLst>
          </p:cNvPr>
          <p:cNvSpPr>
            <a:spLocks noGrp="1"/>
          </p:cNvSpPr>
          <p:nvPr/>
        </p:nvSpPr>
        <p:spPr>
          <a:xfrm>
            <a:off x="0" y="6543675"/>
            <a:ext cx="12192000" cy="314325"/>
          </a:xfrm>
          <a:prstGeom prst="rect">
            <a:avLst/>
          </a:prstGeom>
          <a:solidFill>
            <a:srgbClr val="0B2B2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A6D8AF-D849-4606-AA5B-9CA53A24BE04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Universidad del Valle de Guatemala  •  Ingeniería Mecatrónica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70067D-44FF-48DF-AC9D-D2803C929935}"/>
              </a:ext>
            </a:extLst>
          </p:cNvPr>
          <p:cNvSpPr>
            <a:spLocks noGrp="1"/>
          </p:cNvSpPr>
          <p:nvPr/>
        </p:nvSpPr>
        <p:spPr>
          <a:xfrm>
            <a:off x="11049000" y="6591300"/>
            <a:ext cx="62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A6CE39"/>
                </a:solidFill>
              </a:defRPr>
            </a:pPr>
            <a:r>
              <a:rPr sz="900" b="1">
                <a:solidFill>
                  <a:srgbClr val="A6CE39"/>
                </a:solidFill>
              </a:rPr>
              <a:t>05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681FF7-F2F0-48F3-B80E-B38E0126E5EA}"/>
              </a:ext>
            </a:extLst>
          </p:cNvPr>
          <p:cNvSpPr>
            <a:spLocks noGrp="1"/>
          </p:cNvSpPr>
          <p:nvPr/>
        </p:nvSpPr>
        <p:spPr>
          <a:xfrm>
            <a:off x="7239000" y="163830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0B2B20"/>
                </a:solidFill>
              </a:defRPr>
            </a:pPr>
            <a:r>
              <a:rPr sz="1950" b="1">
                <a:solidFill>
                  <a:srgbClr val="0B2B20"/>
                </a:solidFill>
              </a:rPr>
              <a:t>Funciones integradas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D621A98-32DD-43A1-9CA2-51E185235193}"/>
              </a:ext>
            </a:extLst>
          </p:cNvPr>
          <p:cNvSpPr>
            <a:spLocks noGrp="1"/>
          </p:cNvSpPr>
          <p:nvPr/>
        </p:nvSpPr>
        <p:spPr>
          <a:xfrm>
            <a:off x="7239000" y="2286000"/>
            <a:ext cx="85725" cy="85725"/>
          </a:xfrm>
          <a:prstGeom prst="ellipse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6738ED-80B9-408C-9987-AA94B98AF8D7}"/>
              </a:ext>
            </a:extLst>
          </p:cNvPr>
          <p:cNvSpPr>
            <a:spLocks noGrp="1"/>
          </p:cNvSpPr>
          <p:nvPr/>
        </p:nvSpPr>
        <p:spPr>
          <a:xfrm>
            <a:off x="7429500" y="2209800"/>
            <a:ext cx="352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7241F"/>
                </a:solidFill>
              </a:defRPr>
            </a:pPr>
            <a:r>
              <a:rPr sz="1500" b="0">
                <a:solidFill>
                  <a:srgbClr val="17241F"/>
                </a:solidFill>
              </a:rPr>
              <a:t>Conexión y estado del Crazyflie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20F0661-9E22-42C4-B3A3-6E0026573CBD}"/>
              </a:ext>
            </a:extLst>
          </p:cNvPr>
          <p:cNvSpPr>
            <a:spLocks noGrp="1"/>
          </p:cNvSpPr>
          <p:nvPr/>
        </p:nvSpPr>
        <p:spPr>
          <a:xfrm>
            <a:off x="7239000" y="2933700"/>
            <a:ext cx="85725" cy="85725"/>
          </a:xfrm>
          <a:prstGeom prst="ellipse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A3F2AD-41AC-476E-BAA4-B36CE510ACD4}"/>
              </a:ext>
            </a:extLst>
          </p:cNvPr>
          <p:cNvSpPr>
            <a:spLocks noGrp="1"/>
          </p:cNvSpPr>
          <p:nvPr/>
        </p:nvSpPr>
        <p:spPr>
          <a:xfrm>
            <a:off x="7429500" y="2857500"/>
            <a:ext cx="352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7241F"/>
                </a:solidFill>
              </a:defRPr>
            </a:pPr>
            <a:r>
              <a:rPr sz="1500" b="0">
                <a:solidFill>
                  <a:srgbClr val="17241F"/>
                </a:solidFill>
              </a:rPr>
              <a:t>Botones de desplazamiento y hover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138CD45-DA08-4097-A65C-E1D8F590442B}"/>
              </a:ext>
            </a:extLst>
          </p:cNvPr>
          <p:cNvSpPr>
            <a:spLocks noGrp="1"/>
          </p:cNvSpPr>
          <p:nvPr/>
        </p:nvSpPr>
        <p:spPr>
          <a:xfrm>
            <a:off x="7239000" y="3581400"/>
            <a:ext cx="85725" cy="85725"/>
          </a:xfrm>
          <a:prstGeom prst="ellipse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A8E2F-2D01-4932-8238-9415C357CA79}"/>
              </a:ext>
            </a:extLst>
          </p:cNvPr>
          <p:cNvSpPr>
            <a:spLocks noGrp="1"/>
          </p:cNvSpPr>
          <p:nvPr/>
        </p:nvSpPr>
        <p:spPr>
          <a:xfrm>
            <a:off x="7429500" y="3505200"/>
            <a:ext cx="352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7241F"/>
                </a:solidFill>
              </a:defRPr>
            </a:pPr>
            <a:r>
              <a:rPr sz="1500" b="0">
                <a:solidFill>
                  <a:srgbClr val="17241F"/>
                </a:solidFill>
              </a:rPr>
              <a:t>Activación y vista de cámara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4BFCA28-2784-4D50-A1DA-65D87A264185}"/>
              </a:ext>
            </a:extLst>
          </p:cNvPr>
          <p:cNvSpPr>
            <a:spLocks noGrp="1"/>
          </p:cNvSpPr>
          <p:nvPr/>
        </p:nvSpPr>
        <p:spPr>
          <a:xfrm>
            <a:off x="7239000" y="4229100"/>
            <a:ext cx="85725" cy="85725"/>
          </a:xfrm>
          <a:prstGeom prst="ellipse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BA51CA-18F3-41F8-A29A-C7B44DD16B7B}"/>
              </a:ext>
            </a:extLst>
          </p:cNvPr>
          <p:cNvSpPr>
            <a:spLocks noGrp="1"/>
          </p:cNvSpPr>
          <p:nvPr/>
        </p:nvSpPr>
        <p:spPr>
          <a:xfrm>
            <a:off x="7429500" y="4152900"/>
            <a:ext cx="352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7241F"/>
                </a:solidFill>
              </a:defRPr>
            </a:pPr>
            <a:r>
              <a:rPr sz="1500" b="0">
                <a:solidFill>
                  <a:srgbClr val="17241F"/>
                </a:solidFill>
              </a:rPr>
              <a:t>Paro de emergencia inmediato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B0255DB-C716-4465-B2BF-BE75DA1E67DC}"/>
              </a:ext>
            </a:extLst>
          </p:cNvPr>
          <p:cNvSpPr>
            <a:spLocks noGrp="1"/>
          </p:cNvSpPr>
          <p:nvPr/>
        </p:nvSpPr>
        <p:spPr>
          <a:xfrm>
            <a:off x="7162800" y="4933950"/>
            <a:ext cx="3781425" cy="619125"/>
          </a:xfrm>
          <a:prstGeom prst="roundRect">
            <a:avLst>
              <a:gd name="adj" fmla="val 18462"/>
            </a:avLst>
          </a:prstGeom>
          <a:solidFill>
            <a:srgbClr val="E6F1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83043F-034A-49F0-A1FA-E43A047820DD}"/>
              </a:ext>
            </a:extLst>
          </p:cNvPr>
          <p:cNvSpPr>
            <a:spLocks noGrp="1"/>
          </p:cNvSpPr>
          <p:nvPr/>
        </p:nvSpPr>
        <p:spPr>
          <a:xfrm>
            <a:off x="7381875" y="506730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B2B20"/>
                </a:solidFill>
              </a:defRPr>
            </a:pPr>
            <a:r>
              <a:rPr sz="1275" b="1">
                <a:solidFill>
                  <a:srgbClr val="0B2B20"/>
                </a:solidFill>
              </a:rPr>
              <a:t>La interfaz conserva los programas Python independientes para pruebas y depuración.</a:t>
            </a:r>
          </a:p>
        </p:txBody>
      </p:sp>
      <p:pic>
        <p:nvPicPr>
          <p:cNvPr id="38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72" y="1104900"/>
            <a:ext cx="6274628" cy="532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39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4EB1B2B-5F4B-4500-AB01-D5C3B34B6C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C4ADED-8101-46F2-9067-D2689A037D4F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2F8F3A"/>
                </a:solidFill>
              </a:defRPr>
            </a:pPr>
            <a:r>
              <a:rPr sz="975" b="1">
                <a:solidFill>
                  <a:srgbClr val="2F8F3A"/>
                </a:solidFill>
              </a:rPr>
              <a:t>JOYSTICK CON MARKER ROBOTAT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76B475-A46E-46BC-8D60-4E0E256178B6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0B2B20"/>
                </a:solidFill>
              </a:defRPr>
            </a:pPr>
            <a:r>
              <a:rPr sz="2700" b="1">
                <a:solidFill>
                  <a:srgbClr val="0B2B20"/>
                </a:solidFill>
              </a:rPr>
              <a:t>El marker convierte inclinación y altura en un joystick físico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4C3209-5EC4-4252-8AE2-9401B1A09BF5}"/>
              </a:ext>
            </a:extLst>
          </p:cNvPr>
          <p:cNvSpPr>
            <a:spLocks noGrp="1"/>
          </p:cNvSpPr>
          <p:nvPr/>
        </p:nvSpPr>
        <p:spPr>
          <a:xfrm>
            <a:off x="0" y="6543675"/>
            <a:ext cx="12192000" cy="314325"/>
          </a:xfrm>
          <a:prstGeom prst="rect">
            <a:avLst/>
          </a:prstGeom>
          <a:solidFill>
            <a:srgbClr val="0B2B2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1C269F-3093-443B-BD01-F735005C0C82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Universidad del Valle de Guatemala  •  Ingeniería Mecatrónica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DC8C94-3B0C-48CA-9313-24D47B96D9A2}"/>
              </a:ext>
            </a:extLst>
          </p:cNvPr>
          <p:cNvSpPr>
            <a:spLocks noGrp="1"/>
          </p:cNvSpPr>
          <p:nvPr/>
        </p:nvSpPr>
        <p:spPr>
          <a:xfrm>
            <a:off x="11049000" y="6591300"/>
            <a:ext cx="62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A6CE39"/>
                </a:solidFill>
              </a:defRPr>
            </a:pPr>
            <a:r>
              <a:rPr sz="900" b="1">
                <a:solidFill>
                  <a:srgbClr val="A6CE39"/>
                </a:solidFill>
              </a:rPr>
              <a:t>07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9042DE-6ED2-473E-8D8E-30F1F5CD3D39}"/>
              </a:ext>
            </a:extLst>
          </p:cNvPr>
          <p:cNvSpPr>
            <a:spLocks noGrp="1"/>
          </p:cNvSpPr>
          <p:nvPr/>
        </p:nvSpPr>
        <p:spPr>
          <a:xfrm>
            <a:off x="495300" y="1343025"/>
            <a:ext cx="4381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7241F"/>
                </a:solidFill>
              </a:defRPr>
            </a:pPr>
            <a:r>
              <a:rPr sz="1650" b="0">
                <a:solidFill>
                  <a:srgbClr val="17241F"/>
                </a:solidFill>
              </a:rPr>
              <a:t>La inclinación indica dirección; la variación de altura define ascenso o descenso.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BF7D3B0-8D02-4CE6-8020-7F9464C9B3E5}"/>
              </a:ext>
            </a:extLst>
          </p:cNvPr>
          <p:cNvSpPr>
            <a:spLocks noGrp="1"/>
          </p:cNvSpPr>
          <p:nvPr/>
        </p:nvSpPr>
        <p:spPr>
          <a:xfrm>
            <a:off x="495300" y="2362200"/>
            <a:ext cx="85725" cy="85725"/>
          </a:xfrm>
          <a:prstGeom prst="ellipse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4AC0E4-7BDC-449B-84B6-E7A5BAE99345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7241F"/>
                </a:solidFill>
              </a:defRPr>
            </a:pPr>
            <a:r>
              <a:rPr sz="1500" b="0">
                <a:solidFill>
                  <a:srgbClr val="17241F"/>
                </a:solidFill>
              </a:rPr>
              <a:t>Botón Cero: fija la referencia de altura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779A62D-295C-4949-BD34-9E8450BA7227}"/>
              </a:ext>
            </a:extLst>
          </p:cNvPr>
          <p:cNvSpPr>
            <a:spLocks noGrp="1"/>
          </p:cNvSpPr>
          <p:nvPr/>
        </p:nvSpPr>
        <p:spPr>
          <a:xfrm>
            <a:off x="495300" y="2914650"/>
            <a:ext cx="85725" cy="85725"/>
          </a:xfrm>
          <a:prstGeom prst="ellipse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FE1ABD-9445-4A11-AB03-A67EBC873357}"/>
              </a:ext>
            </a:extLst>
          </p:cNvPr>
          <p:cNvSpPr>
            <a:spLocks noGrp="1"/>
          </p:cNvSpPr>
          <p:nvPr/>
        </p:nvSpPr>
        <p:spPr>
          <a:xfrm>
            <a:off x="685800" y="283845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7241F"/>
                </a:solidFill>
              </a:defRPr>
            </a:pPr>
            <a:r>
              <a:rPr sz="1500" b="0">
                <a:solidFill>
                  <a:srgbClr val="17241F"/>
                </a:solidFill>
              </a:rPr>
              <a:t>Zona muerta: evita movimientos por temblor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303D2C6-7246-4E40-A85D-0E9AF102918E}"/>
              </a:ext>
            </a:extLst>
          </p:cNvPr>
          <p:cNvSpPr>
            <a:spLocks noGrp="1"/>
          </p:cNvSpPr>
          <p:nvPr/>
        </p:nvSpPr>
        <p:spPr>
          <a:xfrm>
            <a:off x="495300" y="3467100"/>
            <a:ext cx="85725" cy="85725"/>
          </a:xfrm>
          <a:prstGeom prst="ellipse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D5E6F1-94D0-42EA-B028-ACBDACF0B6C5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7241F"/>
                </a:solidFill>
              </a:defRPr>
            </a:pPr>
            <a:r>
              <a:rPr sz="1500" b="0">
                <a:solidFill>
                  <a:srgbClr val="17241F"/>
                </a:solidFill>
              </a:rPr>
              <a:t>Marker 0.10 m bajo el cero: aterrizaje</a:t>
            </a:r>
          </a:p>
        </p:txBody>
      </p:sp>
      <p:pic>
        <p:nvPicPr>
          <p:cNvPr id="33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33900" y="1181100"/>
            <a:ext cx="6688535" cy="2257425"/>
          </a:xfrm>
          <a:prstGeom prst="roundRect">
            <a:avLst>
              <a:gd name="adj" fmla="val 5505"/>
            </a:avLst>
          </a:prstGeom>
        </p:spPr>
      </p:pic>
      <p:pic>
        <p:nvPicPr>
          <p:cNvPr id="34" name="Picture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33900" y="3257550"/>
            <a:ext cx="6688535" cy="3190875"/>
          </a:xfrm>
          <a:prstGeom prst="roundRect">
            <a:avLst>
              <a:gd name="adj" fmla="val 5455"/>
            </a:avLst>
          </a:prstGeom>
        </p:spPr>
      </p:pic>
    </p:spTree>
    <p:extLst>
      <p:ext uri="{BB962C8B-B14F-4D97-AF65-F5344CB8AC3E}">
        <p14:creationId xmlns:p14="http://schemas.microsoft.com/office/powerpoint/2010/main" val="2084318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61B4D89-8A14-4928-9EDB-7C3C41C3AB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6DC151-4722-41C7-9A05-D9FDAE6438B2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2F8F3A"/>
                </a:solidFill>
              </a:defRPr>
            </a:pPr>
            <a:r>
              <a:rPr sz="975" b="1">
                <a:solidFill>
                  <a:srgbClr val="2F8F3A"/>
                </a:solidFill>
              </a:rPr>
              <a:t>PRUEBA SIMULTÁNEA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C8FE1D-C799-4A2C-9B50-9896E666F25C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0B2B20"/>
                </a:solidFill>
              </a:defRPr>
            </a:pPr>
            <a:r>
              <a:rPr sz="2700" b="1">
                <a:solidFill>
                  <a:srgbClr val="0B2B20"/>
                </a:solidFill>
              </a:rPr>
              <a:t>Prueba dual: dos drones operados con una sola Crazyradio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394613-B41C-49FF-A396-545443D52415}"/>
              </a:ext>
            </a:extLst>
          </p:cNvPr>
          <p:cNvSpPr>
            <a:spLocks noGrp="1"/>
          </p:cNvSpPr>
          <p:nvPr/>
        </p:nvSpPr>
        <p:spPr>
          <a:xfrm>
            <a:off x="0" y="6543675"/>
            <a:ext cx="12192000" cy="314325"/>
          </a:xfrm>
          <a:prstGeom prst="rect">
            <a:avLst/>
          </a:prstGeom>
          <a:solidFill>
            <a:srgbClr val="0B2B2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76D96E-A457-4883-80E1-E515EFF9967C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Universidad del Valle de Guatemala  •  Ingeniería Mecatrónica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DE1D79-5BE4-4A34-9620-FF93D6BDA6E1}"/>
              </a:ext>
            </a:extLst>
          </p:cNvPr>
          <p:cNvSpPr>
            <a:spLocks noGrp="1"/>
          </p:cNvSpPr>
          <p:nvPr/>
        </p:nvSpPr>
        <p:spPr>
          <a:xfrm>
            <a:off x="11049000" y="6591300"/>
            <a:ext cx="62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A6CE39"/>
                </a:solidFill>
              </a:defRPr>
            </a:pPr>
            <a:r>
              <a:rPr sz="900" b="1">
                <a:solidFill>
                  <a:srgbClr val="A6CE39"/>
                </a:solidFill>
              </a:rPr>
              <a:t>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903B00-06C3-46C2-9585-4650C81459D0}"/>
              </a:ext>
            </a:extLst>
          </p:cNvPr>
          <p:cNvSpPr>
            <a:spLocks noGrp="1"/>
          </p:cNvSpPr>
          <p:nvPr/>
        </p:nvSpPr>
        <p:spPr>
          <a:xfrm>
            <a:off x="765073" y="145732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2F8F3A"/>
                </a:solidFill>
              </a:defRPr>
            </a:pPr>
            <a:r>
              <a:rPr sz="1800" b="1">
                <a:solidFill>
                  <a:srgbClr val="2F8F3A"/>
                </a:solidFill>
              </a:rPr>
              <a:t>Configuración de vuelo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797EF3-11E1-473F-8141-B1316014AA0F}"/>
              </a:ext>
            </a:extLst>
          </p:cNvPr>
          <p:cNvSpPr>
            <a:spLocks noGrp="1"/>
          </p:cNvSpPr>
          <p:nvPr/>
        </p:nvSpPr>
        <p:spPr>
          <a:xfrm>
            <a:off x="666750" y="1819275"/>
            <a:ext cx="371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17241F"/>
                </a:solidFill>
              </a:defRPr>
            </a:pPr>
            <a:r>
              <a:rPr sz="1575" b="0">
                <a:solidFill>
                  <a:srgbClr val="17241F"/>
                </a:solidFill>
              </a:rPr>
              <a:t>Crazyradio: canal 84 · 2 Mbit/s</a:t>
            </a:r>
          </a:p>
          <a:p>
            <a:pPr algn="l">
              <a:buNone/>
              <a:defRPr sz="1575" b="0">
                <a:solidFill>
                  <a:srgbClr val="17241F"/>
                </a:solidFill>
              </a:defRPr>
            </a:pPr>
            <a:r>
              <a:rPr sz="1575" b="0">
                <a:solidFill>
                  <a:srgbClr val="17241F"/>
                </a:solidFill>
              </a:rPr>
              <a:t>Dron 1: E4 · mocap/drone3</a:t>
            </a:r>
          </a:p>
          <a:p>
            <a:pPr algn="l">
              <a:buNone/>
              <a:defRPr sz="1575" b="0">
                <a:solidFill>
                  <a:srgbClr val="17241F"/>
                </a:solidFill>
              </a:defRPr>
            </a:pPr>
            <a:r>
              <a:rPr sz="1575" b="0">
                <a:solidFill>
                  <a:srgbClr val="17241F"/>
                </a:solidFill>
              </a:rPr>
              <a:t>Dron 2: E5 · mocap/drone4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318C935-BB3F-4CF8-8044-B3451DE7D10D}"/>
              </a:ext>
            </a:extLst>
          </p:cNvPr>
          <p:cNvSpPr>
            <a:spLocks noGrp="1"/>
          </p:cNvSpPr>
          <p:nvPr/>
        </p:nvSpPr>
        <p:spPr>
          <a:xfrm>
            <a:off x="666750" y="3238500"/>
            <a:ext cx="361950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9E4D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1C6603-DD7C-41D7-A8D8-4EE1C7434CBE}"/>
              </a:ext>
            </a:extLst>
          </p:cNvPr>
          <p:cNvSpPr>
            <a:spLocks noGrp="1"/>
          </p:cNvSpPr>
          <p:nvPr/>
        </p:nvSpPr>
        <p:spPr>
          <a:xfrm>
            <a:off x="923925" y="32766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0B2B20"/>
                </a:solidFill>
              </a:defRPr>
            </a:pPr>
            <a:r>
              <a:rPr sz="1725" b="1">
                <a:solidFill>
                  <a:srgbClr val="0B2B20"/>
                </a:solidFill>
              </a:rPr>
              <a:t>Resultados de altura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CB56DC3-01D1-4217-BF96-E16EF5822DE3}"/>
              </a:ext>
            </a:extLst>
          </p:cNvPr>
          <p:cNvSpPr>
            <a:spLocks noGrp="1"/>
          </p:cNvSpPr>
          <p:nvPr/>
        </p:nvSpPr>
        <p:spPr>
          <a:xfrm>
            <a:off x="914400" y="3876675"/>
            <a:ext cx="85725" cy="85725"/>
          </a:xfrm>
          <a:prstGeom prst="ellipse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FC912B-3171-469D-A0B4-5B60E5A9D86F}"/>
              </a:ext>
            </a:extLst>
          </p:cNvPr>
          <p:cNvSpPr>
            <a:spLocks noGrp="1"/>
          </p:cNvSpPr>
          <p:nvPr/>
        </p:nvSpPr>
        <p:spPr>
          <a:xfrm>
            <a:off x="1104900" y="3800475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7241F"/>
                </a:solidFill>
              </a:defRPr>
            </a:pPr>
            <a:r>
              <a:rPr sz="1500" b="0">
                <a:solidFill>
                  <a:srgbClr val="17241F"/>
                </a:solidFill>
              </a:rPr>
              <a:t>Dron 1: objetivo 0.526 m; máximo 0.591 m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A79A5D5-5E2E-41AC-B190-463C0EA681C7}"/>
              </a:ext>
            </a:extLst>
          </p:cNvPr>
          <p:cNvSpPr>
            <a:spLocks noGrp="1"/>
          </p:cNvSpPr>
          <p:nvPr/>
        </p:nvSpPr>
        <p:spPr>
          <a:xfrm>
            <a:off x="914400" y="4362450"/>
            <a:ext cx="85725" cy="85725"/>
          </a:xfrm>
          <a:prstGeom prst="ellipse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3F1673-5994-49A9-ABB8-9D046AA522B2}"/>
              </a:ext>
            </a:extLst>
          </p:cNvPr>
          <p:cNvSpPr>
            <a:spLocks noGrp="1"/>
          </p:cNvSpPr>
          <p:nvPr/>
        </p:nvSpPr>
        <p:spPr>
          <a:xfrm>
            <a:off x="1104900" y="428625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7241F"/>
                </a:solidFill>
              </a:defRPr>
            </a:pPr>
            <a:r>
              <a:rPr sz="1500" b="0" dirty="0">
                <a:solidFill>
                  <a:srgbClr val="17241F"/>
                </a:solidFill>
              </a:rPr>
              <a:t>Dron 2: </a:t>
            </a:r>
            <a:r>
              <a:rPr sz="1500" b="0" dirty="0" err="1">
                <a:solidFill>
                  <a:srgbClr val="17241F"/>
                </a:solidFill>
              </a:rPr>
              <a:t>objetivo</a:t>
            </a:r>
            <a:r>
              <a:rPr sz="1500" b="0" dirty="0">
                <a:solidFill>
                  <a:srgbClr val="17241F"/>
                </a:solidFill>
              </a:rPr>
              <a:t> 0.534 m; </a:t>
            </a:r>
            <a:r>
              <a:rPr sz="1500" b="0" dirty="0" err="1">
                <a:solidFill>
                  <a:srgbClr val="17241F"/>
                </a:solidFill>
              </a:rPr>
              <a:t>máximo</a:t>
            </a:r>
            <a:r>
              <a:rPr sz="1500" b="0" dirty="0">
                <a:solidFill>
                  <a:srgbClr val="17241F"/>
                </a:solidFill>
              </a:rPr>
              <a:t> 0.476 m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135C6E-9079-44AB-B4F6-47C476CAD814}"/>
              </a:ext>
            </a:extLst>
          </p:cNvPr>
          <p:cNvSpPr>
            <a:spLocks noGrp="1"/>
          </p:cNvSpPr>
          <p:nvPr/>
        </p:nvSpPr>
        <p:spPr>
          <a:xfrm>
            <a:off x="914400" y="4848225"/>
            <a:ext cx="85725" cy="85725"/>
          </a:xfrm>
          <a:prstGeom prst="ellipse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41F845-945B-477E-BAF8-7540501E711E}"/>
              </a:ext>
            </a:extLst>
          </p:cNvPr>
          <p:cNvSpPr>
            <a:spLocks noGrp="1"/>
          </p:cNvSpPr>
          <p:nvPr/>
        </p:nvSpPr>
        <p:spPr>
          <a:xfrm>
            <a:off x="1104900" y="4772025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7241F"/>
                </a:solidFill>
              </a:defRPr>
            </a:pPr>
            <a:r>
              <a:rPr sz="1500" b="0">
                <a:solidFill>
                  <a:srgbClr val="17241F"/>
                </a:solidFill>
              </a:rPr>
              <a:t>El Dron 1 tuvo sobreimpulso; el Dron 2 no sostuvo la altura.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31531" y="1381125"/>
            <a:ext cx="6548438" cy="4762500"/>
          </a:xfrm>
          <a:prstGeom prst="roundRect">
            <a:avLst>
              <a:gd name="adj" fmla="val 2400"/>
            </a:avLst>
          </a:prstGeom>
        </p:spPr>
      </p:pic>
    </p:spTree>
    <p:extLst>
      <p:ext uri="{BB962C8B-B14F-4D97-AF65-F5344CB8AC3E}">
        <p14:creationId xmlns:p14="http://schemas.microsoft.com/office/powerpoint/2010/main" val="308120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61B4D89-8A14-4928-9EDB-7C3C41C3AB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6DC151-4722-41C7-9A05-D9FDAE6438B2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2F8F3A"/>
                </a:solidFill>
              </a:defRPr>
            </a:pPr>
            <a:r>
              <a:rPr sz="975" b="1">
                <a:solidFill>
                  <a:srgbClr val="2F8F3A"/>
                </a:solidFill>
              </a:rPr>
              <a:t>CALIDAD DE PERCEPCIÓN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C8FE1D-C799-4A2C-9B50-9896E666F25C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0B2B20"/>
                </a:solidFill>
              </a:defRPr>
            </a:pPr>
            <a:r>
              <a:rPr sz="2700" b="1">
                <a:solidFill>
                  <a:srgbClr val="0B2B20"/>
                </a:solidFill>
              </a:rPr>
              <a:t>MoCap fue estable: el reto sigue en el control de altura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394613-B41C-49FF-A396-545443D52415}"/>
              </a:ext>
            </a:extLst>
          </p:cNvPr>
          <p:cNvSpPr>
            <a:spLocks noGrp="1"/>
          </p:cNvSpPr>
          <p:nvPr/>
        </p:nvSpPr>
        <p:spPr>
          <a:xfrm>
            <a:off x="0" y="6543675"/>
            <a:ext cx="12192000" cy="314325"/>
          </a:xfrm>
          <a:prstGeom prst="rect">
            <a:avLst/>
          </a:prstGeom>
          <a:solidFill>
            <a:srgbClr val="0B2B2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76D96E-A457-4883-80E1-E515EFF9967C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Universidad del Valle de Guatemala  •  Ingeniería Mecatrónica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DE1D79-5BE4-4A34-9620-FF93D6BDA6E1}"/>
              </a:ext>
            </a:extLst>
          </p:cNvPr>
          <p:cNvSpPr>
            <a:spLocks noGrp="1"/>
          </p:cNvSpPr>
          <p:nvPr/>
        </p:nvSpPr>
        <p:spPr>
          <a:xfrm>
            <a:off x="11049000" y="6591300"/>
            <a:ext cx="62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A6CE39"/>
                </a:solidFill>
              </a:defRPr>
            </a:pPr>
            <a:r>
              <a:rPr sz="900" b="1">
                <a:solidFill>
                  <a:srgbClr val="A6CE39"/>
                </a:solidFill>
              </a:rPr>
              <a:t>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903B00-06C3-46C2-9585-4650C81459D0}"/>
              </a:ext>
            </a:extLst>
          </p:cNvPr>
          <p:cNvSpPr>
            <a:spLocks noGrp="1"/>
          </p:cNvSpPr>
          <p:nvPr/>
        </p:nvSpPr>
        <p:spPr>
          <a:xfrm>
            <a:off x="765073" y="145732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2F8F3A"/>
                </a:solidFill>
              </a:defRPr>
            </a:pPr>
            <a:r>
              <a:rPr sz="1800" b="1">
                <a:solidFill>
                  <a:srgbClr val="2F8F3A"/>
                </a:solidFill>
              </a:rPr>
              <a:t>Indicadores de MoCap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797EF3-11E1-473F-8141-B1316014AA0F}"/>
              </a:ext>
            </a:extLst>
          </p:cNvPr>
          <p:cNvSpPr>
            <a:spLocks noGrp="1"/>
          </p:cNvSpPr>
          <p:nvPr/>
        </p:nvSpPr>
        <p:spPr>
          <a:xfrm>
            <a:off x="666750" y="1819275"/>
            <a:ext cx="371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17241F"/>
                </a:solidFill>
              </a:defRPr>
            </a:pPr>
            <a:r>
              <a:rPr sz="1575" b="0">
                <a:solidFill>
                  <a:srgbClr val="17241F"/>
                </a:solidFill>
              </a:rPr>
              <a:t>Frecuencia media: ≈53 Hz por dron</a:t>
            </a:r>
          </a:p>
          <a:p>
            <a:pPr algn="l">
              <a:buNone/>
              <a:defRPr sz="1575" b="0">
                <a:solidFill>
                  <a:srgbClr val="17241F"/>
                </a:solidFill>
              </a:defRPr>
            </a:pPr>
            <a:r>
              <a:rPr sz="1575" b="0">
                <a:solidFill>
                  <a:srgbClr val="17241F"/>
                </a:solidFill>
              </a:rPr>
              <a:t>Edad máxima de paquete: 0.062 s</a:t>
            </a:r>
          </a:p>
          <a:p>
            <a:pPr algn="l">
              <a:buNone/>
              <a:defRPr sz="1575" b="0">
                <a:solidFill>
                  <a:srgbClr val="17241F"/>
                </a:solidFill>
              </a:defRPr>
            </a:pPr>
            <a:r>
              <a:rPr sz="1575" b="0">
                <a:solidFill>
                  <a:srgbClr val="17241F"/>
                </a:solidFill>
              </a:rPr>
              <a:t>Error vertical EKF–MoCap: &lt;2.5 cm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318C935-BB3F-4CF8-8044-B3451DE7D10D}"/>
              </a:ext>
            </a:extLst>
          </p:cNvPr>
          <p:cNvSpPr>
            <a:spLocks noGrp="1"/>
          </p:cNvSpPr>
          <p:nvPr/>
        </p:nvSpPr>
        <p:spPr>
          <a:xfrm>
            <a:off x="666750" y="3238500"/>
            <a:ext cx="361950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9E4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1C6603-DD7C-41D7-A8D8-4EE1C7434CBE}"/>
              </a:ext>
            </a:extLst>
          </p:cNvPr>
          <p:cNvSpPr>
            <a:spLocks noGrp="1"/>
          </p:cNvSpPr>
          <p:nvPr/>
        </p:nvSpPr>
        <p:spPr>
          <a:xfrm>
            <a:off x="923925" y="32766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0B2B20"/>
                </a:solidFill>
              </a:defRPr>
            </a:pPr>
            <a:r>
              <a:rPr sz="1725" b="1">
                <a:solidFill>
                  <a:srgbClr val="0B2B20"/>
                </a:solidFill>
              </a:rPr>
              <a:t>Conclusión técnica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CB56DC3-01D1-4217-BF96-E16EF5822DE3}"/>
              </a:ext>
            </a:extLst>
          </p:cNvPr>
          <p:cNvSpPr>
            <a:spLocks noGrp="1"/>
          </p:cNvSpPr>
          <p:nvPr/>
        </p:nvSpPr>
        <p:spPr>
          <a:xfrm>
            <a:off x="914400" y="3876675"/>
            <a:ext cx="85725" cy="85725"/>
          </a:xfrm>
          <a:prstGeom prst="ellipse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FC912B-3171-469D-A0B4-5B60E5A9D86F}"/>
              </a:ext>
            </a:extLst>
          </p:cNvPr>
          <p:cNvSpPr>
            <a:spLocks noGrp="1"/>
          </p:cNvSpPr>
          <p:nvPr/>
        </p:nvSpPr>
        <p:spPr>
          <a:xfrm>
            <a:off x="1104900" y="3800475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7241F"/>
                </a:solidFill>
              </a:defRPr>
            </a:pPr>
            <a:r>
              <a:rPr sz="1500" b="0">
                <a:solidFill>
                  <a:srgbClr val="17241F"/>
                </a:solidFill>
              </a:rPr>
              <a:t>MoCap y EKF fueron consistentes en ambos drones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A79A5D5-5E2E-41AC-B190-463C0EA681C7}"/>
              </a:ext>
            </a:extLst>
          </p:cNvPr>
          <p:cNvSpPr>
            <a:spLocks noGrp="1"/>
          </p:cNvSpPr>
          <p:nvPr/>
        </p:nvSpPr>
        <p:spPr>
          <a:xfrm>
            <a:off x="914400" y="4362450"/>
            <a:ext cx="85725" cy="85725"/>
          </a:xfrm>
          <a:prstGeom prst="ellipse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3F1673-5994-49A9-ABB8-9D046AA522B2}"/>
              </a:ext>
            </a:extLst>
          </p:cNvPr>
          <p:cNvSpPr>
            <a:spLocks noGrp="1"/>
          </p:cNvSpPr>
          <p:nvPr/>
        </p:nvSpPr>
        <p:spPr>
          <a:xfrm>
            <a:off x="1104900" y="428625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7241F"/>
                </a:solidFill>
              </a:defRPr>
            </a:pPr>
            <a:r>
              <a:rPr sz="1500" b="0">
                <a:solidFill>
                  <a:srgbClr val="17241F"/>
                </a:solidFill>
              </a:rPr>
              <a:t>La percepción no explica la diferencia de altura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135C6E-9079-44AB-B4F6-47C476CAD814}"/>
              </a:ext>
            </a:extLst>
          </p:cNvPr>
          <p:cNvSpPr>
            <a:spLocks noGrp="1"/>
          </p:cNvSpPr>
          <p:nvPr/>
        </p:nvSpPr>
        <p:spPr>
          <a:xfrm>
            <a:off x="914400" y="4848225"/>
            <a:ext cx="85725" cy="85725"/>
          </a:xfrm>
          <a:prstGeom prst="ellipse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41F845-945B-477E-BAF8-7540501E711E}"/>
              </a:ext>
            </a:extLst>
          </p:cNvPr>
          <p:cNvSpPr>
            <a:spLocks noGrp="1"/>
          </p:cNvSpPr>
          <p:nvPr/>
        </p:nvSpPr>
        <p:spPr>
          <a:xfrm>
            <a:off x="1104900" y="4772025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7241F"/>
                </a:solidFill>
              </a:defRPr>
            </a:pPr>
            <a:r>
              <a:rPr sz="1500" b="0">
                <a:solidFill>
                  <a:srgbClr val="17241F"/>
                </a:solidFill>
              </a:rPr>
              <a:t>Siguiente paso: ajustar el control dual antes del vuelo continuo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19625" y="1671205"/>
            <a:ext cx="6572250" cy="4182341"/>
          </a:xfrm>
          <a:prstGeom prst="roundRect">
            <a:avLst>
              <a:gd name="adj" fmla="val 2400"/>
            </a:avLst>
          </a:prstGeom>
        </p:spPr>
      </p:pic>
    </p:spTree>
    <p:extLst>
      <p:ext uri="{BB962C8B-B14F-4D97-AF65-F5344CB8AC3E}">
        <p14:creationId xmlns:p14="http://schemas.microsoft.com/office/powerpoint/2010/main" val="308120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E52215A-8EB7-4C22-9FA0-CF8E2BFD32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5AF528-66B4-4B86-A3D9-45C8B2B8915B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CIERRE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2E4707-D6BB-45A9-AC7B-BF86390F2BBA}"/>
              </a:ext>
            </a:extLst>
          </p:cNvPr>
          <p:cNvSpPr>
            <a:spLocks noGrp="1"/>
          </p:cNvSpPr>
          <p:nvPr/>
        </p:nvSpPr>
        <p:spPr>
          <a:xfrm>
            <a:off x="685800" y="1095375"/>
            <a:ext cx="82391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El sistema ya integra interacción intuitiva,</a:t>
            </a:r>
          </a:p>
          <a:p>
            <a:pPr algn="l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posicionamiento y evidencia experimental.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6BF49C-EA18-47DB-A621-2ACF089AC42B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A6CE39"/>
                </a:solidFill>
              </a:defRPr>
            </a:pPr>
            <a:r>
              <a:rPr sz="1650" b="1">
                <a:solidFill>
                  <a:srgbClr val="A6CE39"/>
                </a:solidFill>
              </a:rPr>
              <a:t>Avance actual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9AB1584-0783-4AC6-9444-A45BE6791888}"/>
              </a:ext>
            </a:extLst>
          </p:cNvPr>
          <p:cNvSpPr>
            <a:spLocks noGrp="1"/>
          </p:cNvSpPr>
          <p:nvPr/>
        </p:nvSpPr>
        <p:spPr>
          <a:xfrm>
            <a:off x="800100" y="3343275"/>
            <a:ext cx="190500" cy="190500"/>
          </a:xfrm>
          <a:prstGeom prst="ellipse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1627FB-3987-436E-8C52-5B2CC3C3AE34}"/>
              </a:ext>
            </a:extLst>
          </p:cNvPr>
          <p:cNvSpPr>
            <a:spLocks noGrp="1"/>
          </p:cNvSpPr>
          <p:nvPr/>
        </p:nvSpPr>
        <p:spPr>
          <a:xfrm>
            <a:off x="800100" y="3371850"/>
            <a:ext cx="19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0B2B20"/>
                </a:solidFill>
              </a:defRPr>
            </a:pPr>
            <a:r>
              <a:rPr sz="825" b="1">
                <a:solidFill>
                  <a:srgbClr val="0B2B20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0C63DB-C6F5-4C98-BFB1-FD274E2AEB2D}"/>
              </a:ext>
            </a:extLst>
          </p:cNvPr>
          <p:cNvSpPr>
            <a:spLocks noGrp="1"/>
          </p:cNvSpPr>
          <p:nvPr/>
        </p:nvSpPr>
        <p:spPr>
          <a:xfrm>
            <a:off x="1190625" y="3276600"/>
            <a:ext cx="609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Consolidar el control continuo de dos drones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315202-DA79-433E-9396-E6953C5E6759}"/>
              </a:ext>
            </a:extLst>
          </p:cNvPr>
          <p:cNvSpPr>
            <a:spLocks noGrp="1"/>
          </p:cNvSpPr>
          <p:nvPr/>
        </p:nvSpPr>
        <p:spPr>
          <a:xfrm>
            <a:off x="800100" y="3981450"/>
            <a:ext cx="190500" cy="190500"/>
          </a:xfrm>
          <a:prstGeom prst="ellipse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B35065-7A4D-44EB-A3F8-9D2745DE8DE1}"/>
              </a:ext>
            </a:extLst>
          </p:cNvPr>
          <p:cNvSpPr>
            <a:spLocks noGrp="1"/>
          </p:cNvSpPr>
          <p:nvPr/>
        </p:nvSpPr>
        <p:spPr>
          <a:xfrm>
            <a:off x="800100" y="4010025"/>
            <a:ext cx="19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0B2B20"/>
                </a:solidFill>
              </a:defRPr>
            </a:pPr>
            <a:r>
              <a:rPr sz="825" b="1">
                <a:solidFill>
                  <a:srgbClr val="0B2B20"/>
                </a:solidFill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C0EC26-07FB-4CAB-8F31-390C17FE08AD}"/>
              </a:ext>
            </a:extLst>
          </p:cNvPr>
          <p:cNvSpPr>
            <a:spLocks noGrp="1"/>
          </p:cNvSpPr>
          <p:nvPr/>
        </p:nvSpPr>
        <p:spPr>
          <a:xfrm>
            <a:off x="1190625" y="3914775"/>
            <a:ext cx="609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Ejecutar pruebas repetibles de estabilidad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E34834-E7DB-4522-B486-E8D9F5603A46}"/>
              </a:ext>
            </a:extLst>
          </p:cNvPr>
          <p:cNvSpPr>
            <a:spLocks noGrp="1"/>
          </p:cNvSpPr>
          <p:nvPr/>
        </p:nvSpPr>
        <p:spPr>
          <a:xfrm>
            <a:off x="800100" y="4619625"/>
            <a:ext cx="190500" cy="190500"/>
          </a:xfrm>
          <a:prstGeom prst="ellipse">
            <a:avLst/>
          </a:prstGeom>
          <a:solidFill>
            <a:srgbClr val="A6CE3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0D8A60-E8BA-4209-B796-7059CEDFA510}"/>
              </a:ext>
            </a:extLst>
          </p:cNvPr>
          <p:cNvSpPr>
            <a:spLocks noGrp="1"/>
          </p:cNvSpPr>
          <p:nvPr/>
        </p:nvSpPr>
        <p:spPr>
          <a:xfrm>
            <a:off x="800100" y="4648200"/>
            <a:ext cx="19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0B2B20"/>
                </a:solidFill>
              </a:defRPr>
            </a:pPr>
            <a:r>
              <a:rPr sz="825" b="1">
                <a:solidFill>
                  <a:srgbClr val="0B2B20"/>
                </a:solidFill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EEC9BC-0679-4A84-B37B-76E2E53DDD88}"/>
              </a:ext>
            </a:extLst>
          </p:cNvPr>
          <p:cNvSpPr>
            <a:spLocks noGrp="1"/>
          </p:cNvSpPr>
          <p:nvPr/>
        </p:nvSpPr>
        <p:spPr>
          <a:xfrm>
            <a:off x="1190625" y="4552950"/>
            <a:ext cx="609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0">
                <a:solidFill>
                  <a:srgbClr val="FFFFFF"/>
                </a:solidFill>
              </a:defRPr>
            </a:pPr>
            <a:r>
              <a:rPr lang="es-MX" sz="1725" b="0" dirty="0">
                <a:solidFill>
                  <a:srgbClr val="FFFFFF"/>
                </a:solidFill>
              </a:rPr>
              <a:t>Ejecutar  control de drones por medio de traje de captura de movimiento</a:t>
            </a:r>
            <a:endParaRPr sz="1725" b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5435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1206</Words>
  <Application>Microsoft Office PowerPoint</Application>
  <DocSecurity>0</DocSecurity>
  <PresentationFormat>Widescreen</PresentationFormat>
  <Paragraphs>139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Albert Vandercam Hart</cp:lastModifiedBy>
  <cp:revision>1</cp:revision>
  <dcterms:created xsi:type="dcterms:W3CDTF">2026-08-08T06:14:04Z</dcterms:created>
  <dcterms:modified xsi:type="dcterms:W3CDTF">2026-08-08T06:24:08Z</dcterms:modified>
</cp:coreProperties>
</file>